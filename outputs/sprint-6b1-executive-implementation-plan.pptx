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ef2c5655704d82" /><Relationship Type="http://schemas.openxmlformats.org/officeDocument/2006/relationships/extended-properties" Target="/docProps/app.xml" Id="R720a159231cb4892" /><Relationship Type="http://schemas.openxmlformats.org/officeDocument/2006/relationships/officeDocument" Target="/ppt/presentation.xml" Id="R0dbd5d8bd45940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4a373b56e54d52"/>
  </p:sldMasterIdLst>
  <p:notesMasterIdLst>
    <p:notesMasterId xmlns:r="http://schemas.openxmlformats.org/officeDocument/2006/relationships" r:id="R278bf20627564caa"/>
  </p:notesMasterIdLst>
  <p:sldIdLst>
    <p:sldId xmlns:r="http://schemas.openxmlformats.org/officeDocument/2006/relationships" id="256" r:id="R5bd29f72919d405d"/>
    <p:sldId xmlns:r="http://schemas.openxmlformats.org/officeDocument/2006/relationships" id="257" r:id="R9d2af017fe064f94"/>
    <p:sldId xmlns:r="http://schemas.openxmlformats.org/officeDocument/2006/relationships" id="258" r:id="Rc86774a397e84cc8"/>
    <p:sldId xmlns:r="http://schemas.openxmlformats.org/officeDocument/2006/relationships" id="259" r:id="Rcd8d2b1f34a84438"/>
    <p:sldId xmlns:r="http://schemas.openxmlformats.org/officeDocument/2006/relationships" id="260" r:id="R59bde48d3f214703"/>
    <p:sldId xmlns:r="http://schemas.openxmlformats.org/officeDocument/2006/relationships" id="261" r:id="R1e5d2901f6a541de"/>
    <p:sldId xmlns:r="http://schemas.openxmlformats.org/officeDocument/2006/relationships" id="262" r:id="R5bfb844d9f8a468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62aa769ee04ac0" /><Relationship Type="http://schemas.openxmlformats.org/officeDocument/2006/relationships/slideMaster" Target="/ppt/slideMasters/slideMaster1.xml" Id="R4a4a373b56e54d52" /><Relationship Type="http://schemas.openxmlformats.org/officeDocument/2006/relationships/notesMaster" Target="/ppt/notesMasters/notesMaster1.xml" Id="R278bf20627564caa" /><Relationship Type="http://schemas.openxmlformats.org/officeDocument/2006/relationships/presProps" Target="/ppt/presProps.xml" Id="R922dc0b5ec904a26" /><Relationship Type="http://schemas.openxmlformats.org/officeDocument/2006/relationships/tableStyles" Target="/ppt/tableStyles.xml" Id="R12d42423176b4aee" /><Relationship Type="http://schemas.openxmlformats.org/officeDocument/2006/relationships/slide" Target="/ppt/slides/slide1.xml" Id="R5bd29f72919d405d" /><Relationship Type="http://schemas.openxmlformats.org/officeDocument/2006/relationships/slide" Target="/ppt/slides/slide2.xml" Id="R9d2af017fe064f94" /><Relationship Type="http://schemas.openxmlformats.org/officeDocument/2006/relationships/slide" Target="/ppt/slides/slide3.xml" Id="Rc86774a397e84cc8" /><Relationship Type="http://schemas.openxmlformats.org/officeDocument/2006/relationships/slide" Target="/ppt/slides/slide4.xml" Id="Rcd8d2b1f34a84438" /><Relationship Type="http://schemas.openxmlformats.org/officeDocument/2006/relationships/slide" Target="/ppt/slides/slide5.xml" Id="R59bde48d3f214703" /><Relationship Type="http://schemas.openxmlformats.org/officeDocument/2006/relationships/slide" Target="/ppt/slides/slide6.xml" Id="R1e5d2901f6a541de" /><Relationship Type="http://schemas.openxmlformats.org/officeDocument/2006/relationships/slide" Target="/ppt/slides/slide7.xml" Id="R5bfb844d9f8a46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50c764270c44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3cc12647954b22" /><Relationship Type="http://schemas.openxmlformats.org/officeDocument/2006/relationships/notesMaster" Target="/ppt/notesMasters/notesMaster1.xml" Id="R6a0ba304de694f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7e93e1630747e3" /><Relationship Type="http://schemas.openxmlformats.org/officeDocument/2006/relationships/notesMaster" Target="/ppt/notesMasters/notesMaster1.xml" Id="R4de6662ad55a49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6cd30de0de4df5" /><Relationship Type="http://schemas.openxmlformats.org/officeDocument/2006/relationships/notesMaster" Target="/ppt/notesMasters/notesMaster1.xml" Id="Rc9c57de0209840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6a23ef7f4f4478" /><Relationship Type="http://schemas.openxmlformats.org/officeDocument/2006/relationships/notesMaster" Target="/ppt/notesMasters/notesMaster1.xml" Id="R31784a509cf442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20d1f1a67e4ae3" /><Relationship Type="http://schemas.openxmlformats.org/officeDocument/2006/relationships/notesMaster" Target="/ppt/notesMasters/notesMaster1.xml" Id="Rb155a8dcc02d48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014f6ff90a4e68" /><Relationship Type="http://schemas.openxmlformats.org/officeDocument/2006/relationships/notesMaster" Target="/ppt/notesMasters/notesMaster1.xml" Id="Rf75b34cdef764e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bcb90ad41545a2" /><Relationship Type="http://schemas.openxmlformats.org/officeDocument/2006/relationships/notesMaster" Target="/ppt/notesMasters/notesMaster1.xml" Id="R8a3e363a808a4e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c9853ab36344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8f1978d7944968" /><Relationship Type="http://schemas.openxmlformats.org/officeDocument/2006/relationships/slideLayout" Target="/ppt/slideLayouts/slideLayout1.xml" Id="Rdd2376f20fa64a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2376f20fa64a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b4831b7f44c9c" /><Relationship Type="http://schemas.openxmlformats.org/officeDocument/2006/relationships/notesSlide" Target="/ppt/notesSlides/notesSlide1.xml" Id="R85379bc975434d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8336936884c06" /><Relationship Type="http://schemas.openxmlformats.org/officeDocument/2006/relationships/notesSlide" Target="/ppt/notesSlides/notesSlide2.xml" Id="R466894747ef74b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734cb149e47d7" /><Relationship Type="http://schemas.openxmlformats.org/officeDocument/2006/relationships/notesSlide" Target="/ppt/notesSlides/notesSlide3.xml" Id="R34930c707fa64f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bd034839e4655" /><Relationship Type="http://schemas.openxmlformats.org/officeDocument/2006/relationships/notesSlide" Target="/ppt/notesSlides/notesSlide4.xml" Id="R9da34486831d41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973ad22bc49dd" /><Relationship Type="http://schemas.openxmlformats.org/officeDocument/2006/relationships/notesSlide" Target="/ppt/notesSlides/notesSlide5.xml" Id="Red7c7877840843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3548395bd4d70" /><Relationship Type="http://schemas.openxmlformats.org/officeDocument/2006/relationships/notesSlide" Target="/ppt/notesSlides/notesSlide6.xml" Id="R8ef8c239d22646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3571f9a5148de" /><Relationship Type="http://schemas.openxmlformats.org/officeDocument/2006/relationships/notesSlide" Target="/ppt/notesSlides/notesSlide7.xml" Id="R04a33edd807041d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67D51882-0358-449D-BD82-02C3E086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Sprint 6B1
implementation plan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4B6981D-EF08-46E2-87A0-2B7620E8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Container deployment foundation · Approved product surfaces
Release-gated delivery · 22 July 2026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696218A4-DAB6-42EF-8698-DFF5FDEA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TESSARA · EXECUTIVE IMPLEMENTATION BRIEF</a:t>
            </a:r>
          </a:p>
        </p:txBody>
      </p:sp>
      <p:sp>
        <p:nvSpPr>
          <p:cNvPr id="4" name="accent-1">
            <a:extLst xmlns:a="http://schemas.openxmlformats.org/drawingml/2006/main">
              <a:ext uri="{FF2B5EF4-FFF2-40B4-BE49-F238E27FC236}">
                <a16:creationId xmlns:a16="http://schemas.microsoft.com/office/drawing/2014/main" id="{BB57550D-85DB-4E42-AD85-73030BA0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03299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3ADC0F3-B2F4-4178-97F0-8C044455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77C9B8E-9DA0-4478-B230-019EBC3D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6B1 turns modular architecture into an operable runtime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45E77087-F69F-4B01-9DCB-CB93B244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3B151336-BAF8-4851-BD34-4AFACFE1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D8B4318-D029-4F61-835F-6D3A4B48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Operate with containment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6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same-origin routing and Core-rendered fallback so a failed module never takes Core down with it.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775CC4D-7FB6-4E32-BD5A-91650D65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Explain what changed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6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Persist exact releases, instances, health dimensions, and sanitized receipts for operator readback.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351BE72F-742C-41F3-B269-0BBC022C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A8F11C52-7B4C-43A0-9FB5-5B73AB93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E1D9B794-3C77-4E01-A342-F04B1451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42A160FF-1451-48D8-BFEC-7E378B73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Deploy with trust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6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Verify digest-pinned OCI artifacts and publisher identity before Docker Compose mutates the installation.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E5436531-A773-4BBC-B8DF-B032C51D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04DBF8FC-0073-4961-A904-42DC2293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EXECUTIVE OUTCOME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Validate and apply a signed, single-host container deployment; route to one independently deployed reference module; observe it without making Core a container control plane.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sprint closes only when deployment, containment, recovery, upgrade, and rollback work end to end.</a:t>
            </a:r>
          </a:p>
        </p:txBody>
      </p:sp>
      <p:sp>
        <p:nvSpPr>
          <p:cNvPr id="13" name="accent-2">
            <a:extLst xmlns:a="http://schemas.openxmlformats.org/drawingml/2006/main">
              <a:ext uri="{FF2B5EF4-FFF2-40B4-BE49-F238E27FC236}">
                <a16:creationId xmlns:a16="http://schemas.microsoft.com/office/drawing/2014/main" id="{B80C2F2B-27E8-4897-8F4A-F6F129BF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926442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6125908-7F29-4ABF-AB2D-4D3863B8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7-3">
            <a:extLst xmlns:a="http://schemas.openxmlformats.org/drawingml/2006/main">
              <a:ext uri="{FF2B5EF4-FFF2-40B4-BE49-F238E27FC236}">
                <a16:creationId xmlns:a16="http://schemas.microsoft.com/office/drawing/2014/main" id="{034BF05F-140D-4289-B770-33625737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approved product scope is one operator journey across three screens</a:t>
            </a:r>
          </a:p>
        </p:txBody>
      </p:sp>
      <p:sp>
        <p:nvSpPr>
          <p:cNvPr id="3" name="Rounded-Rectangle-4-4">
            <a:extLst xmlns:a="http://schemas.openxmlformats.org/drawingml/2006/main">
              <a:ext uri="{FF2B5EF4-FFF2-40B4-BE49-F238E27FC236}">
                <a16:creationId xmlns:a16="http://schemas.microsoft.com/office/drawing/2014/main" id="{E0B6D1BD-0453-47C4-9591-ED76B6FC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3568732" cy="39624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8-5">
            <a:extLst xmlns:a="http://schemas.openxmlformats.org/drawingml/2006/main">
              <a:ext uri="{FF2B5EF4-FFF2-40B4-BE49-F238E27FC236}">
                <a16:creationId xmlns:a16="http://schemas.microsoft.com/office/drawing/2014/main" id="{B745ADC4-FEF8-4D61-B3C4-8B1F9BAF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00" y="4784312"/>
            <a:ext cx="3068669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Primary decision</a:t>
            </a:r>
          </a:p>
        </p:txBody>
      </p:sp>
      <p:sp>
        <p:nvSpPr>
          <p:cNvPr id="5" name="Content-Placeholder-8-6">
            <a:extLst xmlns:a="http://schemas.openxmlformats.org/drawingml/2006/main">
              <a:ext uri="{FF2B5EF4-FFF2-40B4-BE49-F238E27FC236}">
                <a16:creationId xmlns:a16="http://schemas.microsoft.com/office/drawing/2014/main" id="{A3C130F8-A756-4A49-809B-B8F43CB3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00" y="5282184"/>
            <a:ext cx="1705737" cy="481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6" name="Content-Placeholder-8-7">
            <a:extLst xmlns:a="http://schemas.openxmlformats.org/drawingml/2006/main">
              <a:ext uri="{FF2B5EF4-FFF2-40B4-BE49-F238E27FC236}">
                <a16:creationId xmlns:a16="http://schemas.microsoft.com/office/drawing/2014/main" id="{10AC7499-69AD-44AB-BB73-F9ABAB32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32" y="5424773"/>
            <a:ext cx="1362837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Needs attention?</a:t>
            </a:r>
          </a:p>
        </p:txBody>
      </p:sp>
      <p:sp>
        <p:nvSpPr>
          <p:cNvPr id="7" name="Rounded-Rectangle-1-9">
            <a:extLst xmlns:a="http://schemas.openxmlformats.org/drawingml/2006/main">
              <a:ext uri="{FF2B5EF4-FFF2-40B4-BE49-F238E27FC236}">
                <a16:creationId xmlns:a16="http://schemas.microsoft.com/office/drawing/2014/main" id="{EB4BFCBD-B040-487E-A1C7-B0C3296B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1968"/>
            <a:ext cx="3568732" cy="39624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10">
            <a:extLst xmlns:a="http://schemas.openxmlformats.org/drawingml/2006/main">
              <a:ext uri="{FF2B5EF4-FFF2-40B4-BE49-F238E27FC236}">
                <a16:creationId xmlns:a16="http://schemas.microsoft.com/office/drawing/2014/main" id="{B3015E1A-5BA3-4009-8F17-77D6299D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2316004"/>
            <a:ext cx="3068669" cy="20400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 · Lifecycle workspace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6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Extend the existing detail view with release, instance, configuration, diagnostics, trust, deployment, and data readback.</a:t>
            </a:r>
          </a:p>
        </p:txBody>
      </p:sp>
      <p:sp>
        <p:nvSpPr>
          <p:cNvPr id="9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B5413456-72D6-40EA-A455-AF4DB808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4784312"/>
            <a:ext cx="3068669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Primary decision</a:t>
            </a:r>
          </a:p>
        </p:txBody>
      </p:sp>
      <p:sp>
        <p:nvSpPr>
          <p:cNvPr id="10" name="Content-Placeholder-8-12">
            <a:extLst xmlns:a="http://schemas.openxmlformats.org/drawingml/2006/main">
              <a:ext uri="{FF2B5EF4-FFF2-40B4-BE49-F238E27FC236}">
                <a16:creationId xmlns:a16="http://schemas.microsoft.com/office/drawing/2014/main" id="{65A02AC4-7587-48DB-BFCC-79045C6D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5282184"/>
            <a:ext cx="1705737" cy="481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11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6816F83B-A99C-410B-AB08-50A7E1B1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5424773"/>
            <a:ext cx="1362837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Ready to enable?</a:t>
            </a:r>
          </a:p>
        </p:txBody>
      </p:sp>
      <p:sp>
        <p:nvSpPr>
          <p:cNvPr id="12" name="Rounded-Rectangle-12-15">
            <a:extLst xmlns:a="http://schemas.openxmlformats.org/drawingml/2006/main">
              <a:ext uri="{FF2B5EF4-FFF2-40B4-BE49-F238E27FC236}">
                <a16:creationId xmlns:a16="http://schemas.microsoft.com/office/drawing/2014/main" id="{7FFF7803-9696-4406-98AD-D9EECF9C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32" y="2031968"/>
            <a:ext cx="3568732" cy="39624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3" name="Content-Placeholder-8-16">
            <a:extLst xmlns:a="http://schemas.openxmlformats.org/drawingml/2006/main">
              <a:ext uri="{FF2B5EF4-FFF2-40B4-BE49-F238E27FC236}">
                <a16:creationId xmlns:a16="http://schemas.microsoft.com/office/drawing/2014/main" id="{701E51CA-84FC-4AD8-9F76-288D5375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63" y="2316004"/>
            <a:ext cx="3068669" cy="20400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 · Deployment ledger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6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Add a new read-only sibling for the current receipt, resolved components, applied change, history, and verification evidence.</a:t>
            </a:r>
          </a:p>
        </p:txBody>
      </p:sp>
      <p:sp>
        <p:nvSpPr>
          <p:cNvPr id="14" name="Content-Placeholder-8-17">
            <a:extLst xmlns:a="http://schemas.openxmlformats.org/drawingml/2006/main">
              <a:ext uri="{FF2B5EF4-FFF2-40B4-BE49-F238E27FC236}">
                <a16:creationId xmlns:a16="http://schemas.microsoft.com/office/drawing/2014/main" id="{F94965E5-1AD3-4ECB-86A2-3F959177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63" y="4784312"/>
            <a:ext cx="3068669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Primary decision</a:t>
            </a:r>
          </a:p>
        </p:txBody>
      </p:sp>
      <p:sp>
        <p:nvSpPr>
          <p:cNvPr id="15" name="Content-Placeholder-8-18">
            <a:extLst xmlns:a="http://schemas.openxmlformats.org/drawingml/2006/main">
              <a:ext uri="{FF2B5EF4-FFF2-40B4-BE49-F238E27FC236}">
                <a16:creationId xmlns:a16="http://schemas.microsoft.com/office/drawing/2014/main" id="{5B005382-1E72-43FF-B947-E021B06F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63" y="5282184"/>
            <a:ext cx="1705737" cy="481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16" name="Content-Placeholder-8-19">
            <a:extLst xmlns:a="http://schemas.openxmlformats.org/drawingml/2006/main">
              <a:ext uri="{FF2B5EF4-FFF2-40B4-BE49-F238E27FC236}">
                <a16:creationId xmlns:a16="http://schemas.microsoft.com/office/drawing/2014/main" id="{83E40498-E96B-4355-B419-07ADD767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424773"/>
            <a:ext cx="1362837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changed?</a:t>
            </a:r>
          </a:p>
        </p:txBody>
      </p:sp>
      <p:sp>
        <p:nvSpPr>
          <p:cNvPr id="17" name="Content-Placeholder-8-21">
            <a:extLst xmlns:a="http://schemas.openxmlformats.org/drawingml/2006/main">
              <a:ext uri="{FF2B5EF4-FFF2-40B4-BE49-F238E27FC236}">
                <a16:creationId xmlns:a16="http://schemas.microsoft.com/office/drawing/2014/main" id="{403F12C8-7D54-4B74-99E5-E811B7D3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6" y="2316194"/>
            <a:ext cx="3070193" cy="2039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· Operational inventory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6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Extend the existing directory so an operator can identify independently deployed modules, serving state, runtime health, and exceptions.</a:t>
            </a:r>
          </a:p>
        </p:txBody>
      </p:sp>
      <p:sp>
        <p:nvSpPr>
          <p:cNvPr id="18" name="accent-3">
            <a:extLst xmlns:a="http://schemas.openxmlformats.org/drawingml/2006/main">
              <a:ext uri="{FF2B5EF4-FFF2-40B4-BE49-F238E27FC236}">
                <a16:creationId xmlns:a16="http://schemas.microsoft.com/office/drawing/2014/main" id="{2CA189AB-73F8-40CF-B674-C2B3D658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375209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7BDCC77-2CC1-4C86-A8DB-A7F7411B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24480BB-7647-4222-A06C-3585A64A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Four workstreams deliver the capability without creating a new control plane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588DD47C-78A1-475A-9838-AD739771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Deployment contract · tessara-oci-v1, signed manifests, stable findings, sanitized receipts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114098E-5DD7-44EA-BC0B-B7B3B01E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38043E3A-B162-4881-8C9C-680F0FCB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 execution · thin tessara-deploy over installed Compose and Cosign; idempotent apply and rollback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E965791-6CFB-4974-AE53-FE1FB7DF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1AD42FB6-7410-41A0-A8CB-CA65522E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Runtime platform · Traefik routing; one PostgreSQL cluster; isolated databases, owners, and roles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8D07FEE8-FEEE-40E4-A5DF-90155554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454A0F94-52D0-4564-9C70-7CC1F5FB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Reference proof + UI · Scoped Records module, Core read model, and approved A/B/C deltas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FCAADD6C-310E-478A-8D47-298B1B20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E35F2F50-0E19-4073-BEEC-78D87938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Build outside-in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Start with verifiable contracts and operator-owned execution, then expose only supported readback in Core.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workstream is independently testable; integration proceeds only when its upstream contract is stable.</a:t>
            </a:r>
          </a:p>
        </p:txBody>
      </p:sp>
      <p:sp>
        <p:nvSpPr>
          <p:cNvPr id="12" name="accent-4">
            <a:extLst xmlns:a="http://schemas.openxmlformats.org/drawingml/2006/main">
              <a:ext uri="{FF2B5EF4-FFF2-40B4-BE49-F238E27FC236}">
                <a16:creationId xmlns:a16="http://schemas.microsoft.com/office/drawing/2014/main" id="{42FA5A90-AC94-4222-9566-EAF50CBF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183971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86B04ED-B14A-48CC-A467-3E8C1981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8525368E-16FF-4051-84EF-559E9127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Delivery advances through evidence gates—not UI completion alone</a:t>
            </a:r>
          </a:p>
        </p:txBody>
      </p:sp>
      <p:cxnSp>
        <p:nvCxnSpPr>
          <p:cNvPr id="16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399915A-566C-4795-8115-B7CD9B11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DEB131DC-685F-42E0-9CD6-C0AB63E4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4AAD303F-7D87-42FA-AA90-AFA5D6E6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168F5221-232D-4726-A018-0B5A0E0B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GATE 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0E901753-EF7A-4FA4-9072-47D6E35F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GATES 2–3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1E4873F-7367-405D-9662-3A776BC7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GATES 4–5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A895021-E726-4759-A117-4ACE3285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Materialize &amp; contain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6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Apply signed artifacts through Compose; migrate, health-gate, route, stop, fall back, and restore.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2E42473A-6BC5-4629-8321-2CB62DDF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Contracts &amp; persistence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6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Freeze declaration, finding, receipt, installation-identity, and database boundaries. Prove deterministic validate and plan.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7CE8038-5676-4DD5-B7BD-E4F433A7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Expose &amp; prove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6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Persist readback; implement approved A/B/C deltas; execute upgrade, rollback, responsive review, and conformance.</a:t>
            </a:r>
          </a:p>
        </p:txBody>
      </p:sp>
      <p:sp>
        <p:nvSpPr>
          <p:cNvPr id="13" name="accent-5">
            <a:extLst xmlns:a="http://schemas.openxmlformats.org/drawingml/2006/main">
              <a:ext uri="{FF2B5EF4-FFF2-40B4-BE49-F238E27FC236}">
                <a16:creationId xmlns:a16="http://schemas.microsoft.com/office/drawing/2014/main" id="{20FF08CA-01FE-448B-8FA3-09AC1B37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942613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BF5EAD7-AE66-44FF-9209-30434741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82B7707-8FF0-4E0D-A390-3C3F45D7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largest risks are controlled by explicit ownership boundaries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CD05618B-FD69-4AE5-924A-99E862CA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Scope drift · Treat each approved screen record as the implementation contract; preserve everything else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679571A-6398-4437-982B-9DB4ACBF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77D307EA-4905-4F3C-8F1E-6C6C5193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Authority leakage · Only tessara-deploy and the host operator mutate deployment; Core and UI read status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7D1A614-4FF4-43CA-82F0-07FB70FF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55780620-4EB6-4FF4-AE32-24F3294C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Irrecoverable apply · Bind receipt, plan digest, expiry, idempotency, confirmation, backup, and rollback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D8AEECCA-5CF2-424A-86E2-8174179C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57AF6407-48AB-4CA7-A4D7-A93B3C17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State ambiguity · Keep trust, compatibility, identity, deployment, config, readiness, and health separate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14E86893-BE00-48B9-B191-9F6372E3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3FBA6021-78A1-4217-90B6-7CC075A4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Hard boundaries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custom scheduler. No Docker socket in Core or the browser. No cross-database shortcuts.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approved mockups authorize bounded deltas—not a rewrite of the existing application.</a:t>
            </a:r>
          </a:p>
        </p:txBody>
      </p:sp>
      <p:sp>
        <p:nvSpPr>
          <p:cNvPr id="12" name="accent-6">
            <a:extLst xmlns:a="http://schemas.openxmlformats.org/drawingml/2006/main">
              <a:ext uri="{FF2B5EF4-FFF2-40B4-BE49-F238E27FC236}">
                <a16:creationId xmlns:a16="http://schemas.microsoft.com/office/drawing/2014/main" id="{9DEC19E9-5E6A-408C-8036-63B6D673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717671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D1632D1-7599-4F82-A80A-28608511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BE09211-17DB-4AD2-9940-831E9876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sprint is done only when the operator completes the full recovery loop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1544301D-3C3F-400D-8267-E4E481FD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One signed fixture. One origin. One auditable receipt chain.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CE64AB3-0059-463F-9121-6D7C8C2C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Exact artifacts verified before mutation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A65A6993-B946-442F-952F-34BE1150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4AD6072A-DE30-4360-944A-B614D742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10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Demo the path: validate → plan → apply → observe → stop module → inspect fallback and diagnostics → restore → compatible upgrade → rollback.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Acceptance also proves one PostgreSQL container with separate Core, deployment-control, and Module Instance databases—and prohibited cross-database access fails.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1A346996-A225-4336-833B-C782122F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Core remains reachable during module failure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4FCF5BA1-1BBE-4868-B809-9A4E6B99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B45029D8-DC3A-4A4B-BFFD-200CE5E3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and data survive upgrade and rollback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65606208-1D9D-4D8D-9072-49F31845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41C9FE7D-CF96-4F68-B7BA-05A455A8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Screens A, B, and C match approved deltas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85655570-B4C6-4F5C-BCE9-60A1EB28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A36A4B38-BC07-41CE-9582-8AF52122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All workflows pass without skipped proof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4F2B32D8-128E-4F99-A724-97C83CFC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5" name="accent-7">
            <a:extLst xmlns:a="http://schemas.openxmlformats.org/drawingml/2006/main">
              <a:ext uri="{FF2B5EF4-FFF2-40B4-BE49-F238E27FC236}">
                <a16:creationId xmlns:a16="http://schemas.microsoft.com/office/drawing/2014/main" id="{AEDC23A8-5E44-4EC9-BA29-5E7CC532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312560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2026-07-22T18:06:13.6280000Z</dcterms:created>
  <dcterms:modified xsi:type="dcterms:W3CDTF">2026-07-22T18:06:13.6280000Z</dcterms:modified>
</coreProperties>
</file>